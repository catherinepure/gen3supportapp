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Gen3 Firmware Updater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42A5F5"/>
                </a:solidFill>
              </a:defRPr>
            </a:pPr>
            <a:r>
              <a:t>Strategy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CCCCC"/>
                </a:solidFill>
              </a:defRPr>
            </a:pPr>
            <a:r>
              <a:t>How the app delivers against Pure Electric's strategic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CCCCC"/>
                </a:solidFill>
              </a:defRPr>
            </a:pPr>
            <a:r>
              <a:t>DRAFT  |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App's Strategic Role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i="1">
                <a:solidFill>
                  <a:srgbClr val="42A5F5"/>
                </a:solidFill>
              </a:defRPr>
            </a:pPr>
            <a:r>
              <a:t>"The app reduces risk, increases control, enhances customer experience, and opens up new monetisation channels. It is central to our plan to build a digitally enabled premium brand."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— Pure Electric Strategic Plan, Section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10698480" cy="6858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2A5F5"/>
                </a:solidFill>
              </a:defRPr>
            </a:pPr>
            <a:r>
              <a:t>1. Customer Contact &amp;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82112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Direct reach to every registered user for recalls and safety notices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10698480" cy="6858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2A5F5"/>
                </a:solidFill>
              </a:defRPr>
            </a:pPr>
            <a:r>
              <a:t>2. Upsell &amp; Lifecycle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59352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Channel for accessories, servicing, and new scooter offers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10698480" cy="6858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2A5F5"/>
                </a:solidFill>
              </a:defRPr>
            </a:pPr>
            <a:r>
              <a:t>3. Usage Confirmation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36592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Confirm customers have read safety instructions before riding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66360"/>
            <a:ext cx="10698480" cy="6858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2120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2A5F5"/>
                </a:solidFill>
              </a:defRPr>
            </a:pPr>
            <a:r>
              <a:t>4. Leasing &amp; Connected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513832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Scooter lockout for finance defaults, usage-based services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943600"/>
            <a:ext cx="10698480" cy="6858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9893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2A5F5"/>
                </a:solidFill>
              </a:defRPr>
            </a:pPr>
            <a:r>
              <a:t>5. Technology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291072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BLE diagnostics, firmware updates, and usage logging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47120" cy="50292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3832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1. Customer Contact &amp; Recall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565C0"/>
                </a:solidFill>
              </a:defRPr>
            </a:pPr>
            <a:r>
              <a:t>STRATEGY SAYS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If there is ever an issue with a product, the app gives us direct contact with every registered customer. Registration at setup will be mandatory.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9144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CAF50"/>
                </a:solidFill>
              </a:defRPr>
            </a:pPr>
            <a:r>
              <a:t>APP DELIVERS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Mandatory registration captures email at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Push notifications (FCM) reach all users instantly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11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Notification templates target by role, hardware version, or specific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423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Intercom SDK enables direct in-app messaging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74720"/>
            <a:ext cx="11247120" cy="50292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38727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2. Upsell &amp; Lifecycle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565C0"/>
                </a:solidFill>
              </a:defRPr>
            </a:pPr>
            <a:r>
              <a:t>STRATEGY SAYS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891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The app will serve as a channel for offering customers accessories, servicing, and potentially new scooters.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114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CAF50"/>
                </a:solidFill>
              </a:defRPr>
            </a:pPr>
            <a:r>
              <a:t>APP DELIVERS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In-app Intercom messaging enables direct sales conversations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800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Push notification system supports promotional campaigns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212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Audience segmentation by role, hardware version, and region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623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Foundation for in-app store and accessory catalogue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47120" cy="50292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3832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3. Usage Confirmation &amp;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565C0"/>
                </a:solidFill>
              </a:defRPr>
            </a:pPr>
            <a:r>
              <a:t>STRATEGY SAYS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The app can confirm that customers have read safety instructions and user manuals before riding. This reduces our liability.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9144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CAF50"/>
                </a:solidFill>
              </a:defRPr>
            </a:pPr>
            <a:r>
              <a:t>APP DELIVERS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Terms &amp; Conditions enforced before app use on every 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Version-controlled T&amp;C with region and language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11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Full audit trail: IP, device info, user agent, time-to-read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423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Scroll-to-bottom required before acceptance enabled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74720"/>
            <a:ext cx="11247120" cy="50292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38727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4. Leasing &amp; Connected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565C0"/>
                </a:solidFill>
              </a:defRPr>
            </a:pPr>
            <a:r>
              <a:t>STRATEGY SAYS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891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The app will enable features like scooter lockout for leasing or finance contracts where customers default on payments.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114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CAF50"/>
                </a:solidFill>
              </a:defRPr>
            </a:pPr>
            <a:r>
              <a:t>APP DELIVERS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PIN-secured scooter lock/unlock via 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800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Remote lock capability per scooter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212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User-scooter ownership tracking in 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623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Foundation for finance lockout and usage-based services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47120" cy="50292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3832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5. Technology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565C0"/>
                </a:solidFill>
              </a:defRPr>
            </a:pPr>
            <a:r>
              <a:t>STRATEGY SAYS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The app will connect to scooters via Bluetooth, enabling basic diagnostics, firmware updates, and usage logging.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9144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CAF50"/>
                </a:solidFill>
              </a:defRPr>
            </a:pPr>
            <a:r>
              <a:t>APP DELIVERS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Full BLE telemetry: speed, battery, odometer, range, temperature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Over-the-air firmware updates with progress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11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Telemetry logged to cloud on every connection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423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Headlight, cruise control, and lock control via BLE commands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74720"/>
            <a:ext cx="11247120" cy="50292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38727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6. App-First Support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565C0"/>
                </a:solidFill>
              </a:defRPr>
            </a:pPr>
            <a:r>
              <a:t>STRATEGY SAYS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891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App-first support experience that gives customers troubleshooting tools and issue tracking.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114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CAF50"/>
                </a:solidFill>
              </a:defRPr>
            </a:pPr>
            <a:r>
              <a:t>APP DELIVERS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Intercom SDK with Fin AI agent for automated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800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In-app message composer and conversation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212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Self-service support reduces per-incident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623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Scalable across all markets without local support staff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47120" cy="50292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3832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7. Reliability &amp; Early Warning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565C0"/>
                </a:solidFill>
              </a:defRPr>
            </a:pPr>
            <a:r>
              <a:t>STRATEGY SAYS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Engineering, customer support, and warranty teams will operate a shared early warning system from field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9144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CAF50"/>
                </a:solidFill>
              </a:defRPr>
            </a:pPr>
            <a:r>
              <a:t>APP DELIVERS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Every BLE connection logs firmware, battery health, odometer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Data queryable by hardware version, region, and distributor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11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Telemetry trends visible in web-admin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423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Foundation for automated anomaly detection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74720"/>
            <a:ext cx="11247120" cy="50292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38727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8. Distributor-Led Global Expansion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565C0"/>
                </a:solidFill>
              </a:defRPr>
            </a:pPr>
            <a:r>
              <a:t>STRATEGY SAYS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891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Distributors are our core global growth channel. We must scale into new markets with minimal capital investment.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114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CAF50"/>
                </a:solidFill>
              </a:defRPr>
            </a:pPr>
            <a:r>
              <a:t>APP DELIVERS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Web-admin portal for scooter management and firmware uploads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800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Role-based access: admin, manager, normal user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212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Region-aware T&amp;C and push notifications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623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Distributor can manage their fleet independently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47120" cy="50292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38328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9. Operational 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565C0"/>
                </a:solidFill>
              </a:defRPr>
            </a:pPr>
            <a:r>
              <a:t>STRATEGY SAYS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Use data to drive all decisions. Shift from ticket-handling to system-building: app integration, CRM, real-time diagnostics.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9144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CAF50"/>
                </a:solidFill>
              </a:defRPr>
            </a:pPr>
            <a:r>
              <a:t>APP DELIVERS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Automated firmware update notifications on publish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Notification templates with triggers (firmware, status, scheduled)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11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Cloud-based scooter registry updated automatically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423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Edge Functions replace manual processes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74720"/>
            <a:ext cx="11247120" cy="50292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38727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10. Scale Advantage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565C0"/>
                </a:solidFill>
              </a:defRPr>
            </a:pPr>
            <a:r>
              <a:t>STRATEGY SAYS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891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Our fixed cost base can support significantly more volume with minimal increase in overhead.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114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CAF50"/>
                </a:solidFill>
              </a:defRPr>
            </a:pPr>
            <a:r>
              <a:t>APP DELIVERS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Near-zero marginal cost: ~0.1p per connection (infrastructure)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800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Estimated ~£55-95/month platform cost at 100K connections/month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212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Fin AI support at £0.72/resolution vs £4-11 for human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623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✓  Push notifications (FCM) are free and unlimited at any scale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65C0"/>
                </a:solidFill>
              </a:defRPr>
            </a:pPr>
            <a:r>
              <a:t>Summary: Strategy Alignment at a Glance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822960"/>
          <a:ext cx="1124712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6858000"/>
              </a:tblGrid>
              <a:tr h="51538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Strategy Objective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How the App Delivers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51538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Customer Contact &amp; Recall Safety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Mandatory registration, FCM push notifications, Intercom messaging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1538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Upsell &amp; Lifecycle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In-app messaging, segmented push campaigns, promotion infrastructure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38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Usage Confirmation &amp; Protection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Enforced T&amp;C acceptance, audit trail, region/language support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1538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Leasing &amp; Connected 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PIN-secured lock/unlock, ownership tracking, lockout foundation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38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Technology Integration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BLE telemetry, OTA firmware updates, scooter controls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1538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App-First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Intercom + Fin AI, in-app messaging, scalable self-service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38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Reliability Early Warning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Cloud telemetry logging, queryable by HW version/region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1538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Distributor Global Expansion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Web-admin portal, role-based access, region-aware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38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Operational Excellence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Automated notifications, cloud scooter registry, Edge Functions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1539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Scale Advantage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~£55-95/mo at 100K connections; near-zero marginal cost; Fin AI £0.72/resolution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Current Status &amp; Roadmap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CAF50"/>
                </a:solidFill>
              </a:defRPr>
            </a:pPr>
            <a:r>
              <a:t>BUILT &amp;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✓  BLE connection, telemetry &amp; scooter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✓  Over-the-air firmware updates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✓  User registration &amp; email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✓  Terms &amp; Conditions enforcement with audit trail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✓  PIN-secured scooter lock/unlock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✓  Push notifications with segmented targeting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✓  Intercom support with Fin AI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091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✓  Web-admin portal for distributors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206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✓  Secure Edge Function API (no direct DB writes)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2A5F5"/>
                </a:solidFill>
              </a:defRPr>
            </a:pPr>
            <a:r>
              <a:t>ROADMAP 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82880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2A5F5"/>
                </a:solidFill>
              </a:defRPr>
            </a:pPr>
            <a:r>
              <a:t>Next 12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14884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•  First public release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450592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•  Distributor &amp; support flow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752344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•  Accessory upsell channel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236976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2A5F5"/>
                </a:solidFill>
              </a:defRPr>
            </a:pPr>
            <a:r>
              <a:t>12–24 months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557016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•  In-app upselling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85876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•  &gt;70% app registration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16052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•  Leasing model foundation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64515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2A5F5"/>
                </a:solidFill>
              </a:defRPr>
            </a:pPr>
            <a:r>
              <a:t>24–36 months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965192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•  Embedded services rollout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266944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•  Brand leadership in 3+ markets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5568696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CCCCC"/>
                </a:solidFill>
              </a:defRPr>
            </a:pPr>
            <a:r>
              <a:t>•  Usage-based insurance partnerships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65C0"/>
                </a:solidFill>
              </a:defRPr>
            </a:pPr>
            <a:r>
              <a:t>Platform Costs at Scale: 100,000 Connections/Month (GBP)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Usage-based pricing with near-zero marginal cost per connection. Converted at $1 = £0.73 (Feb 2026). Services billed in USD.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657600"/>
                <a:gridCol w="3200400"/>
                <a:gridCol w="1828800"/>
              </a:tblGrid>
              <a:tr h="4267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What It Covers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Usage at 100K Connections/Mo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Est. Monthly Cost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Supabase Pro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Database, Edge Functions (2M incl.), 8GB storage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~400K Edge Function calls, ~100K telemetry rows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£18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Supabase Compute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Dedicated Postgres instance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May need upgrade at 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£0 - £37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Supabase Storage Overage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DB storage beyond 8GB at £0.09/GB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~1.5GB/yr growth; 8GB lasts 5+ years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£0 - £7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SendGrid Essentials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Verification &amp; notification emails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~10K emails (not every connection = new user)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£0 - £15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Firebase FCM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Push notifications to all users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Unlimited - free at any scale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£0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Intercom Essential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In-app support + Fin AI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 seat + £0.72 per AI resolution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£21 + usage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ESTIMATED TOTAL (excl. Fin AI resolutions)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565C0"/>
                          </a:solidFill>
                        </a:defRPr>
                      </a:pPr>
                      <a:r>
                        <a:t>£55 - £95/mo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035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</a:rPr>
              <a:t>Cost per connection:  </a:t>
            </a:r>
            <a:r>
              <a:rPr sz="1200">
                <a:solidFill>
                  <a:srgbClr val="555555"/>
                </a:solidFill>
              </a:rPr>
              <a:t>~0.1p (infrastructure only) or ~1.1p including AI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8756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</a:rPr>
              <a:t>Fin AI support cost:  </a:t>
            </a:r>
            <a:r>
              <a:rPr sz="1200">
                <a:solidFill>
                  <a:srgbClr val="555555"/>
                </a:solidFill>
              </a:rPr>
              <a:t>At 2% contact rate with 70% AI resolution = ~1,400 resolutions/mo = ~£1,020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71616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</a:rPr>
              <a:t>Compared to human agents:  </a:t>
            </a:r>
            <a:r>
              <a:rPr sz="1200">
                <a:solidFill>
                  <a:srgbClr val="555555"/>
                </a:solidFill>
              </a:rPr>
              <a:t>Fin AI at £0.72/resolution vs £4-11 per human-handled ticket across multiple languages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33333"/>
                </a:solidFill>
              </a:rPr>
              <a:t>Database storage:  </a:t>
            </a:r>
            <a:r>
              <a:rPr sz="1200">
                <a:solidFill>
                  <a:srgbClr val="555555"/>
                </a:solidFill>
              </a:rPr>
              <a:t>~750 bytes/telemetry row; 8GB included covers 5+ years at 100K connections/mo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